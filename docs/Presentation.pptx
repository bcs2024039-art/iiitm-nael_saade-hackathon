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444C5E-7A32-4573-8A9D-FB5B921722D5}" v="58" dt="2026-10-11T16:23:24.152"/>
    <p1510:client id="{CBF3EAB4-98BC-425E-B3E3-C0C0E6D4D287}" v="125" dt="2026-10-11T17:20:47.9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Naive sentiment weights</c:v>
                </c:pt>
              </c:strCache>
            </c:strRef>
          </c:tx>
          <c:spPr>
            <a:ln w="38100" cap="flat">
              <a:solidFill>
                <a:srgbClr val="E4572E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Sheet1!$A$2:$A$71</c:f>
              <c:strCache>
                <c:ptCount val="70"/>
                <c:pt idx="0">
                  <c:v>Mon</c:v>
                </c:pt>
                <c:pt idx="14">
                  <c:v>Tue</c:v>
                </c:pt>
                <c:pt idx="28">
                  <c:v>Wed</c:v>
                </c:pt>
                <c:pt idx="42">
                  <c:v>Thu</c:v>
                </c:pt>
                <c:pt idx="56">
                  <c:v>Fri</c:v>
                </c:pt>
              </c:strCache>
            </c:strRef>
          </c:cat>
          <c:val>
            <c:numRef>
              <c:f>Sheet1!$B$2:$B$71</c:f>
              <c:numCache>
                <c:formatCode>General</c:formatCode>
                <c:ptCount val="70"/>
                <c:pt idx="0">
                  <c:v>2.14</c:v>
                </c:pt>
                <c:pt idx="1">
                  <c:v>9.07</c:v>
                </c:pt>
                <c:pt idx="2">
                  <c:v>16.86</c:v>
                </c:pt>
                <c:pt idx="3">
                  <c:v>27.18</c:v>
                </c:pt>
                <c:pt idx="4">
                  <c:v>36.840000000000003</c:v>
                </c:pt>
                <c:pt idx="5">
                  <c:v>49</c:v>
                </c:pt>
                <c:pt idx="6">
                  <c:v>62.2</c:v>
                </c:pt>
                <c:pt idx="7">
                  <c:v>69.17</c:v>
                </c:pt>
                <c:pt idx="8">
                  <c:v>76.02</c:v>
                </c:pt>
                <c:pt idx="9">
                  <c:v>89.25</c:v>
                </c:pt>
                <c:pt idx="10">
                  <c:v>102.37</c:v>
                </c:pt>
                <c:pt idx="11">
                  <c:v>109.78</c:v>
                </c:pt>
                <c:pt idx="12">
                  <c:v>119.26</c:v>
                </c:pt>
                <c:pt idx="13">
                  <c:v>132.52000000000001</c:v>
                </c:pt>
                <c:pt idx="14">
                  <c:v>144.94999999999999</c:v>
                </c:pt>
                <c:pt idx="15">
                  <c:v>154.24</c:v>
                </c:pt>
                <c:pt idx="16">
                  <c:v>166.74</c:v>
                </c:pt>
                <c:pt idx="17">
                  <c:v>176.02</c:v>
                </c:pt>
                <c:pt idx="18">
                  <c:v>183.79</c:v>
                </c:pt>
                <c:pt idx="19">
                  <c:v>192.58</c:v>
                </c:pt>
                <c:pt idx="20">
                  <c:v>208.59</c:v>
                </c:pt>
                <c:pt idx="21">
                  <c:v>222.19</c:v>
                </c:pt>
                <c:pt idx="22">
                  <c:v>229.67</c:v>
                </c:pt>
                <c:pt idx="23">
                  <c:v>235.92</c:v>
                </c:pt>
                <c:pt idx="24">
                  <c:v>246.96</c:v>
                </c:pt>
                <c:pt idx="25">
                  <c:v>260.45</c:v>
                </c:pt>
                <c:pt idx="26">
                  <c:v>271.38</c:v>
                </c:pt>
                <c:pt idx="27">
                  <c:v>280.56</c:v>
                </c:pt>
                <c:pt idx="28">
                  <c:v>295.54000000000002</c:v>
                </c:pt>
                <c:pt idx="29">
                  <c:v>305.69</c:v>
                </c:pt>
                <c:pt idx="30">
                  <c:v>317.64999999999998</c:v>
                </c:pt>
                <c:pt idx="31">
                  <c:v>325.18</c:v>
                </c:pt>
                <c:pt idx="32">
                  <c:v>330.55</c:v>
                </c:pt>
                <c:pt idx="33">
                  <c:v>338.89</c:v>
                </c:pt>
                <c:pt idx="34">
                  <c:v>351.33</c:v>
                </c:pt>
                <c:pt idx="35">
                  <c:v>361.63</c:v>
                </c:pt>
                <c:pt idx="36">
                  <c:v>375.97</c:v>
                </c:pt>
                <c:pt idx="37">
                  <c:v>388.73</c:v>
                </c:pt>
                <c:pt idx="38">
                  <c:v>400.3</c:v>
                </c:pt>
                <c:pt idx="39">
                  <c:v>408.94</c:v>
                </c:pt>
                <c:pt idx="40">
                  <c:v>417.31</c:v>
                </c:pt>
                <c:pt idx="41">
                  <c:v>428.42</c:v>
                </c:pt>
                <c:pt idx="42">
                  <c:v>437.24</c:v>
                </c:pt>
                <c:pt idx="43">
                  <c:v>443.28</c:v>
                </c:pt>
                <c:pt idx="44">
                  <c:v>454.9</c:v>
                </c:pt>
                <c:pt idx="45">
                  <c:v>467.55</c:v>
                </c:pt>
                <c:pt idx="46">
                  <c:v>480.49</c:v>
                </c:pt>
                <c:pt idx="47">
                  <c:v>493.08</c:v>
                </c:pt>
                <c:pt idx="48">
                  <c:v>509.57</c:v>
                </c:pt>
                <c:pt idx="49">
                  <c:v>527.78</c:v>
                </c:pt>
                <c:pt idx="50">
                  <c:v>543.29</c:v>
                </c:pt>
                <c:pt idx="51">
                  <c:v>553.85</c:v>
                </c:pt>
                <c:pt idx="52">
                  <c:v>567.24</c:v>
                </c:pt>
                <c:pt idx="53">
                  <c:v>582.61</c:v>
                </c:pt>
                <c:pt idx="54">
                  <c:v>597.41999999999996</c:v>
                </c:pt>
                <c:pt idx="55">
                  <c:v>605.9</c:v>
                </c:pt>
                <c:pt idx="56">
                  <c:v>617.6</c:v>
                </c:pt>
                <c:pt idx="57">
                  <c:v>636.66</c:v>
                </c:pt>
                <c:pt idx="58">
                  <c:v>653.64</c:v>
                </c:pt>
                <c:pt idx="59">
                  <c:v>664.61</c:v>
                </c:pt>
                <c:pt idx="60">
                  <c:v>676.61</c:v>
                </c:pt>
                <c:pt idx="61">
                  <c:v>683.6</c:v>
                </c:pt>
                <c:pt idx="62">
                  <c:v>694.76</c:v>
                </c:pt>
                <c:pt idx="63">
                  <c:v>703.46</c:v>
                </c:pt>
                <c:pt idx="64">
                  <c:v>711.63</c:v>
                </c:pt>
                <c:pt idx="65">
                  <c:v>715.83</c:v>
                </c:pt>
                <c:pt idx="66">
                  <c:v>719.65</c:v>
                </c:pt>
                <c:pt idx="67">
                  <c:v>728.74</c:v>
                </c:pt>
                <c:pt idx="68">
                  <c:v>747.72</c:v>
                </c:pt>
                <c:pt idx="69">
                  <c:v>762.82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C6C-42D8-8857-E43DA568351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RiskPulse</c:v>
                </c:pt>
              </c:strCache>
            </c:strRef>
          </c:tx>
          <c:spPr>
            <a:ln w="38100" cap="flat">
              <a:solidFill>
                <a:srgbClr val="0B2B33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Sheet1!$A$2:$A$71</c:f>
              <c:strCache>
                <c:ptCount val="70"/>
                <c:pt idx="0">
                  <c:v>Mon</c:v>
                </c:pt>
                <c:pt idx="14">
                  <c:v>Tue</c:v>
                </c:pt>
                <c:pt idx="28">
                  <c:v>Wed</c:v>
                </c:pt>
                <c:pt idx="42">
                  <c:v>Thu</c:v>
                </c:pt>
                <c:pt idx="56">
                  <c:v>Fri</c:v>
                </c:pt>
              </c:strCache>
            </c:strRef>
          </c:cat>
          <c:val>
            <c:numRef>
              <c:f>Sheet1!$C$2:$C$71</c:f>
              <c:numCache>
                <c:formatCode>General</c:formatCode>
                <c:ptCount val="70"/>
                <c:pt idx="0">
                  <c:v>4</c:v>
                </c:pt>
                <c:pt idx="1">
                  <c:v>5.72</c:v>
                </c:pt>
                <c:pt idx="2">
                  <c:v>6.49</c:v>
                </c:pt>
                <c:pt idx="3">
                  <c:v>7.68</c:v>
                </c:pt>
                <c:pt idx="4">
                  <c:v>8.59</c:v>
                </c:pt>
                <c:pt idx="5">
                  <c:v>9.68</c:v>
                </c:pt>
                <c:pt idx="6">
                  <c:v>11.61</c:v>
                </c:pt>
                <c:pt idx="7">
                  <c:v>12.37</c:v>
                </c:pt>
                <c:pt idx="8">
                  <c:v>13.98</c:v>
                </c:pt>
                <c:pt idx="9">
                  <c:v>15.36</c:v>
                </c:pt>
                <c:pt idx="10">
                  <c:v>16.8</c:v>
                </c:pt>
                <c:pt idx="11">
                  <c:v>18.82</c:v>
                </c:pt>
                <c:pt idx="12">
                  <c:v>21.9</c:v>
                </c:pt>
                <c:pt idx="13">
                  <c:v>23.61</c:v>
                </c:pt>
                <c:pt idx="14">
                  <c:v>27.61</c:v>
                </c:pt>
                <c:pt idx="15">
                  <c:v>31.61</c:v>
                </c:pt>
                <c:pt idx="16">
                  <c:v>32.25</c:v>
                </c:pt>
                <c:pt idx="17">
                  <c:v>34.42</c:v>
                </c:pt>
                <c:pt idx="18">
                  <c:v>35.340000000000003</c:v>
                </c:pt>
                <c:pt idx="19">
                  <c:v>36.57</c:v>
                </c:pt>
                <c:pt idx="20">
                  <c:v>39.4</c:v>
                </c:pt>
                <c:pt idx="21">
                  <c:v>39.700000000000003</c:v>
                </c:pt>
                <c:pt idx="22">
                  <c:v>40.21</c:v>
                </c:pt>
                <c:pt idx="23">
                  <c:v>40.57</c:v>
                </c:pt>
                <c:pt idx="24">
                  <c:v>44.57</c:v>
                </c:pt>
                <c:pt idx="25">
                  <c:v>46.08</c:v>
                </c:pt>
                <c:pt idx="26">
                  <c:v>47.32</c:v>
                </c:pt>
                <c:pt idx="27">
                  <c:v>47.96</c:v>
                </c:pt>
                <c:pt idx="28">
                  <c:v>51.96</c:v>
                </c:pt>
                <c:pt idx="29">
                  <c:v>55.96</c:v>
                </c:pt>
                <c:pt idx="30">
                  <c:v>59.96</c:v>
                </c:pt>
                <c:pt idx="31">
                  <c:v>60.94</c:v>
                </c:pt>
                <c:pt idx="32">
                  <c:v>62.28</c:v>
                </c:pt>
                <c:pt idx="33">
                  <c:v>63.14</c:v>
                </c:pt>
                <c:pt idx="34">
                  <c:v>64.75</c:v>
                </c:pt>
                <c:pt idx="35">
                  <c:v>66.36</c:v>
                </c:pt>
                <c:pt idx="36">
                  <c:v>68.180000000000007</c:v>
                </c:pt>
                <c:pt idx="37">
                  <c:v>69.86</c:v>
                </c:pt>
                <c:pt idx="38">
                  <c:v>70.86</c:v>
                </c:pt>
                <c:pt idx="39">
                  <c:v>72.53</c:v>
                </c:pt>
                <c:pt idx="40">
                  <c:v>73.959999999999994</c:v>
                </c:pt>
                <c:pt idx="41">
                  <c:v>75.239999999999995</c:v>
                </c:pt>
                <c:pt idx="42">
                  <c:v>79.239999999999995</c:v>
                </c:pt>
                <c:pt idx="43">
                  <c:v>83.24</c:v>
                </c:pt>
                <c:pt idx="44">
                  <c:v>87.24</c:v>
                </c:pt>
                <c:pt idx="45">
                  <c:v>91.04</c:v>
                </c:pt>
                <c:pt idx="46">
                  <c:v>91.04</c:v>
                </c:pt>
                <c:pt idx="47">
                  <c:v>92.01</c:v>
                </c:pt>
                <c:pt idx="48">
                  <c:v>95.02</c:v>
                </c:pt>
                <c:pt idx="49">
                  <c:v>98.18</c:v>
                </c:pt>
                <c:pt idx="50">
                  <c:v>98.18</c:v>
                </c:pt>
                <c:pt idx="51">
                  <c:v>99.06</c:v>
                </c:pt>
                <c:pt idx="52">
                  <c:v>101.22</c:v>
                </c:pt>
                <c:pt idx="53">
                  <c:v>103.94</c:v>
                </c:pt>
                <c:pt idx="54">
                  <c:v>105.57</c:v>
                </c:pt>
                <c:pt idx="55">
                  <c:v>106.48</c:v>
                </c:pt>
                <c:pt idx="56">
                  <c:v>110.48</c:v>
                </c:pt>
                <c:pt idx="57">
                  <c:v>114.48</c:v>
                </c:pt>
                <c:pt idx="58">
                  <c:v>115.77</c:v>
                </c:pt>
                <c:pt idx="59">
                  <c:v>118.61</c:v>
                </c:pt>
                <c:pt idx="60">
                  <c:v>120.01</c:v>
                </c:pt>
                <c:pt idx="61">
                  <c:v>121.67</c:v>
                </c:pt>
                <c:pt idx="62">
                  <c:v>123.6</c:v>
                </c:pt>
                <c:pt idx="63">
                  <c:v>124.45</c:v>
                </c:pt>
                <c:pt idx="64">
                  <c:v>125.55</c:v>
                </c:pt>
                <c:pt idx="65">
                  <c:v>125.55</c:v>
                </c:pt>
                <c:pt idx="66">
                  <c:v>125.81</c:v>
                </c:pt>
                <c:pt idx="67">
                  <c:v>127.23</c:v>
                </c:pt>
                <c:pt idx="68">
                  <c:v>131.22999999999999</c:v>
                </c:pt>
                <c:pt idx="69">
                  <c:v>133.01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C6C-42D8-8857-E43DA56835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E6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14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CE3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E6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3383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Stress loss (% of book)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3383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Payments ransomware</c:v>
                </c:pt>
                <c:pt idx="1">
                  <c:v>Category-4 hurricane</c:v>
                </c:pt>
                <c:pt idx="2">
                  <c:v>Regional bank failure</c:v>
                </c:pt>
                <c:pt idx="3">
                  <c:v>Gulf shipping standoff</c:v>
                </c:pt>
                <c:pt idx="4">
                  <c:v>Central-bank surprise hike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0.27</c:v>
                </c:pt>
                <c:pt idx="1">
                  <c:v>0.53</c:v>
                </c:pt>
                <c:pt idx="2">
                  <c:v>1.62</c:v>
                </c:pt>
                <c:pt idx="3">
                  <c:v>0.67</c:v>
                </c:pt>
                <c:pt idx="4">
                  <c:v>4.8899999999999997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18-4C4D-B236-66289DCC9E7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3383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b"/>
        <c:majorGridlines>
          <c:spPr>
            <a:ln w="9525" cap="flat">
              <a:solidFill>
                <a:srgbClr val="DCE3E5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E6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98030E-332B-4EC8-A724-92F50334AF24}" type="datetimeFigureOut">
              <a:t>10/11/2026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D5A0BA-A4BB-40BD-A5CA-171858F511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690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'Headlines move markets faster than any desk can read them. Foreshock turns raw news and tweets into three numbers per item - sentiment, event class, impact - and then acts on them.' The panel on the right is the end result of the replay week: five scripted shocks, each auto-triggering a stress test, and one rumour the system deliberately did NOT act on. All data are synthetic and flagged as such.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in my own words: the signal is in the text, but text is unstructured, voluminous and unreliable. Two requirements from the case: an AI/NLP engine producing sentiment, event class and impact; and at least one downstream module. I built both modules because they share the same engine and show two time horizons: tactical (intraday weights) and strategic (event-driven stress). The key design question was trust: a single tweet should not move money, a wire-confirmed story should.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Sources feed connectors that normalise everything to one Document schema. The engine runs six stages: clean and de-duplicate, link entities, score sentiment, classify the event, estimate reliability, and finally impact. Its output is a typed RiskSignal published as JSONL/CSV and via a FastAPI service. Module A and Module B are independent consumers of that one contract. Everything is streaming-safe: a signal only uses information available at its timestamp, which is what makes the back-test honest. The detailed diagram is in docs/architecture.png.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technical choices worth defending. 1) Lexicon-plus-rules NLP: transparent, millisecond-fast, auditable; FinBERT is a one-flag upgrade (--backend finbert) and the same interface. 2) Reliability weighting: impact is damped for single, hedged, low-reach sources and rises as independent outlets corroborate - that is how a rumour stays below the trigger. 3) Trade control in Module A: decay, shrinkage, dead-band and a turnover cap are what cut trading by about 83 percent versus naive sentiment weights. Module B uses simple, explainable sensitivities (duration, convexity, CS01, DV01, PD x LGD) so every number can be checked by hand - and there are tests that do exactly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to right. 613 structured signals from 661 inputs at roughly 1,400 items per second on one CPU thread; the 48 dropped items are reposts and retweets. Held-out numbers come from a small hand-labelled set I split into dev and test; I tuned only on dev. Sentiment 0.75 beats plain VADER at 0.65; event classification is 0.94; the impact score ranks events well (rho 0.76) but is a heuristic - high-impact precision and recall are only about 0.5 on the held-out set, which is why Module B also requires adverse tone, a mapped event class and a cool-down. The heatmap is Module A over the week: NVDA overweight Monday, Boeing and Tesla underweight midweek, Exxon and Chevron overweight on the Gulf standoff, banks underweight after the bank failure. Turnover chart: the naive approach trades 763 percent of the book over the week, ours 133 percent.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story I would tell in the live demo. Thursday 10:05: one low-reach tweet claims a bank froze withdrawals. The engine scores it 6.2 - content is alarming, but reliability is low (follower count, hedged wording, no corroboration) - so no stress test fires. At 10:40 a wire reports the bankruptcy; impact is 9.5, a Credit Event stress test fires automatically and the book is revalued: about minus 45 million dollars, 1.6 percent. Note the attribution: falling rates cushion the book by 32 million, but spreads, credit losses and equity overwhelm it, and loan expected loss more than doubles. Why it matters: front office gets calmer, explainable weights; risk gets automatic, attributable stress tests; model-risk and compliance get evidence, versions and tests behind every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the limits - it builds credibility with a risk jury. The data are synthetic by design (free X API reads are gone and NewsAPI's free tier is delayed), so the numbers demonstrate mechanics, not market performance. The NLP is deliberately transparent; the evaluation set is small and I report only the held-out half. Impact is a heuristic; stress shocks are illustrative. Next steps are the standard path to production: learned models behind the same interfaces, calibration against real event studies, richer scenario design, and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8F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GLOBAL &amp; CRISIL CAMPUS HACKATHON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Foreshock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97480"/>
            <a:ext cx="6309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DCE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news and social text in. Structured risk signals out, driving a tactical index rebalancer and an event-driven stress tester.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532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Nael Saade</a:t>
            </a: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·</a:t>
            </a:r>
            <a:r>
              <a:rPr lang="en-US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ABV </a:t>
            </a:r>
            <a:endParaRPr lang="en-US" sz="1800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59436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AI/NLP Risk Engine  ·  Module A: tactical rebalancer  ·  Module B: strategic stress testing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52360" y="777240"/>
            <a:ext cx="4187952" cy="5257800"/>
          </a:xfrm>
          <a:prstGeom prst="roundRect">
            <a:avLst>
              <a:gd name="adj" fmla="val 3930"/>
            </a:avLst>
          </a:prstGeom>
          <a:solidFill>
            <a:srgbClr val="123C46"/>
          </a:solidFill>
          <a:ln w="12700">
            <a:solidFill>
              <a:srgbClr val="1D556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2668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F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TAPE  ·  REPLAY WEEK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26680" y="1481328"/>
            <a:ext cx="676656" cy="420624"/>
          </a:xfrm>
          <a:prstGeom prst="roundRect">
            <a:avLst>
              <a:gd name="adj" fmla="val 26087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26680" y="1481328"/>
            <a:ext cx="676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549640" y="1481328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Central-bank surprise hike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561320" y="1481328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-4.89%</a:t>
            </a:r>
            <a:endParaRPr lang="en-US" sz="1500">
              <a:latin typeface="Calibri"/>
              <a:ea typeface="Calibri"/>
              <a:cs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726680" y="2139696"/>
            <a:ext cx="676656" cy="420624"/>
          </a:xfrm>
          <a:prstGeom prst="roundRect">
            <a:avLst>
              <a:gd name="adj" fmla="val 26087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26680" y="2139696"/>
            <a:ext cx="676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549640" y="2139696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Gulf shipping standoff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561320" y="213969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-0.67%</a:t>
            </a:r>
            <a:endParaRPr lang="en-US" sz="150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726680" y="2798064"/>
            <a:ext cx="676656" cy="420624"/>
          </a:xfrm>
          <a:prstGeom prst="roundRect">
            <a:avLst>
              <a:gd name="adj" fmla="val 26087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26680" y="2798064"/>
            <a:ext cx="676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549640" y="2798064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bank failure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561320" y="279806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-1.62%</a:t>
            </a:r>
            <a:endParaRPr lang="en-US" sz="1500">
              <a:latin typeface="Calibri"/>
              <a:ea typeface="Calibri"/>
              <a:cs typeface="Calibri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726680" y="3456432"/>
            <a:ext cx="676656" cy="420624"/>
          </a:xfrm>
          <a:prstGeom prst="roundRect">
            <a:avLst>
              <a:gd name="adj" fmla="val 26087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26680" y="3456432"/>
            <a:ext cx="676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549640" y="3456432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Category-4 hurricane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0561320" y="345643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-0.53%</a:t>
            </a:r>
            <a:endParaRPr lang="en-US" sz="1500">
              <a:latin typeface="Calibri"/>
              <a:ea typeface="Calibri"/>
              <a:cs typeface="Calibri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726680" y="4114800"/>
            <a:ext cx="676656" cy="420624"/>
          </a:xfrm>
          <a:prstGeom prst="roundRect">
            <a:avLst>
              <a:gd name="adj" fmla="val 26087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26680" y="4114800"/>
            <a:ext cx="676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549640" y="4114800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ransomware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0561320" y="4114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-0.27%</a:t>
            </a:r>
            <a:endParaRPr lang="en-US" sz="1500">
              <a:latin typeface="Calibri"/>
              <a:ea typeface="Calibri"/>
              <a:cs typeface="Calibri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726680" y="4773168"/>
            <a:ext cx="676656" cy="420624"/>
          </a:xfrm>
          <a:prstGeom prst="roundRect">
            <a:avLst>
              <a:gd name="adj" fmla="val 26087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26680" y="4773168"/>
            <a:ext cx="676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549640" y="4773168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Unconfirmed rumour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0561320" y="4773168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back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726680" y="5349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8FC9D0"/>
                </a:solidFill>
                <a:latin typeface="Calibri"/>
                <a:ea typeface="Calibri"/>
                <a:cs typeface="Calibri"/>
              </a:rPr>
              <a:t>Chip = impact score (1-10). Right = stress P&amp;L on an 85-position </a:t>
            </a:r>
            <a:r>
              <a:rPr lang="en-US" sz="1100" dirty="0">
                <a:solidFill>
                  <a:srgbClr val="8FC9D0"/>
                </a:solidFill>
                <a:latin typeface="Calibri"/>
                <a:ea typeface="Calibri"/>
                <a:cs typeface="Calibri"/>
              </a:rPr>
              <a:t>wholesale book. All data synthetic.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signals hide in unstructured text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10512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33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Desks and risk teams cannot read thousands of headlines and posts an hour. They need a structured, trustworthy signal: how positive or negative it is, what kind of event it describes, and how big it could be.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337560"/>
            <a:ext cx="475488" cy="475488"/>
          </a:xfrm>
          <a:prstGeom prst="ellipse">
            <a:avLst/>
          </a:prstGeom>
          <a:solidFill>
            <a:srgbClr val="0F7C8A"/>
          </a:solidFill>
          <a:ln w="12700">
            <a:solidFill>
              <a:srgbClr val="0F7C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337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330098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and velocity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6301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33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wires, GDELT-style feeds and social posts never stop.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361688"/>
            <a:ext cx="475488" cy="475488"/>
          </a:xfrm>
          <a:prstGeom prst="ellipse">
            <a:avLst/>
          </a:prstGeom>
          <a:solidFill>
            <a:srgbClr val="0F7C8A"/>
          </a:solidFill>
          <a:ln w="12700">
            <a:solidFill>
              <a:srgbClr val="0F7C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361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43251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and trust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65429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33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Reposts and rumours must not move money; wire-confirmed facts should.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385816"/>
            <a:ext cx="475488" cy="475488"/>
          </a:xfrm>
          <a:prstGeom prst="ellipse">
            <a:avLst/>
          </a:prstGeom>
          <a:solidFill>
            <a:srgbClr val="0F7C8A"/>
          </a:solidFill>
          <a:ln w="12700">
            <a:solidFill>
              <a:srgbClr val="0F7C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53858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349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time horizons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567842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33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Intraday tilts for an index; scenario stress for a wholesale book.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1371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Approach: sense, score, act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400800" y="1874520"/>
            <a:ext cx="5239512" cy="1325880"/>
          </a:xfrm>
          <a:prstGeom prst="roundRect">
            <a:avLst>
              <a:gd name="adj" fmla="val 8276"/>
            </a:avLst>
          </a:prstGeom>
          <a:solidFill>
            <a:srgbClr val="F3F6F6"/>
          </a:solidFill>
          <a:ln w="12700">
            <a:solidFill>
              <a:srgbClr val="F3F6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29400" y="2185416"/>
            <a:ext cx="713232" cy="713232"/>
          </a:xfrm>
          <a:prstGeom prst="ellipse">
            <a:avLst/>
          </a:prstGeom>
          <a:solidFill>
            <a:srgbClr val="0F7C8A"/>
          </a:solidFill>
          <a:ln w="12700">
            <a:solidFill>
              <a:srgbClr val="0F7C8A"/>
            </a:solidFill>
            <a:prstDash val="solid"/>
          </a:ln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368296"/>
            <a:ext cx="347472" cy="347472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589520" y="200253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7589520" y="2350008"/>
            <a:ext cx="3886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33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news and social posts, drop reposts, link each item to an S&amp;P-100 name or the broad market.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400800" y="3355848"/>
            <a:ext cx="5239512" cy="1325880"/>
          </a:xfrm>
          <a:prstGeom prst="roundRect">
            <a:avLst>
              <a:gd name="adj" fmla="val 8276"/>
            </a:avLst>
          </a:prstGeom>
          <a:solidFill>
            <a:srgbClr val="F3F6F6"/>
          </a:solidFill>
          <a:ln w="12700">
            <a:solidFill>
              <a:srgbClr val="F3F6F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629400" y="3666744"/>
            <a:ext cx="713232" cy="713232"/>
          </a:xfrm>
          <a:prstGeom prst="ellipse">
            <a:avLst/>
          </a:prstGeom>
          <a:solidFill>
            <a:srgbClr val="0F7C8A"/>
          </a:solidFill>
          <a:ln w="12700">
            <a:solidFill>
              <a:srgbClr val="0F7C8A"/>
            </a:solidFill>
            <a:prstDash val="solid"/>
          </a:ln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3849624"/>
            <a:ext cx="347472" cy="34747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7589520" y="348386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800" dirty="0"/>
          </a:p>
        </p:txBody>
      </p:sp>
      <p:sp>
        <p:nvSpPr>
          <p:cNvPr id="27" name="Text 23"/>
          <p:cNvSpPr txBox="1"/>
          <p:nvPr/>
        </p:nvSpPr>
        <p:spPr>
          <a:xfrm>
            <a:off x="7589520" y="3831336"/>
            <a:ext cx="3886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33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from −1 to +1, one of 12 event classes, impact 1–10, damped by source reliability and corroboration.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6400800" y="4837176"/>
            <a:ext cx="5239512" cy="1325880"/>
          </a:xfrm>
          <a:prstGeom prst="roundRect">
            <a:avLst>
              <a:gd name="adj" fmla="val 8276"/>
            </a:avLst>
          </a:prstGeom>
          <a:solidFill>
            <a:srgbClr val="F3F6F6"/>
          </a:solidFill>
          <a:ln w="12700">
            <a:solidFill>
              <a:srgbClr val="F3F6F6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629400" y="5148072"/>
            <a:ext cx="713232" cy="713232"/>
          </a:xfrm>
          <a:prstGeom prst="ellipse">
            <a:avLst/>
          </a:prstGeom>
          <a:solidFill>
            <a:srgbClr val="0F7C8A"/>
          </a:solidFill>
          <a:ln w="12700">
            <a:solidFill>
              <a:srgbClr val="0F7C8A"/>
            </a:solidFill>
            <a:prstDash val="solid"/>
          </a:ln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5330952"/>
            <a:ext cx="347472" cy="347472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7589520" y="49651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7589520" y="5312664"/>
            <a:ext cx="3886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33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 rebalances a 20-stock index. Module B stress-tests an 85-position wholesale book.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548640" y="6428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Foreshock  ·  S&amp;P Global &amp; Crisil Campus Hackathon 2026</a:t>
            </a:r>
            <a:endParaRPr lang="en-US" sz="1000" dirty="0"/>
          </a:p>
        </p:txBody>
      </p:sp>
      <p:sp>
        <p:nvSpPr>
          <p:cNvPr id="34" name="Text 29"/>
          <p:cNvSpPr txBox="1"/>
          <p:nvPr/>
        </p:nvSpPr>
        <p:spPr>
          <a:xfrm>
            <a:off x="11094415" y="64282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design: one engine, two consumers</a:t>
            </a:r>
            <a:endParaRPr lang="en-US" sz="3600" dirty="0"/>
          </a:p>
        </p:txBody>
      </p:sp>
      <p:sp>
        <p:nvSpPr>
          <p:cNvPr id="60" name="Text 58"/>
          <p:cNvSpPr txBox="1"/>
          <p:nvPr/>
        </p:nvSpPr>
        <p:spPr>
          <a:xfrm>
            <a:off x="548640" y="6428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Foreshock  ·  S&amp;P Global &amp; Crisil Campus Hackathon 2026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11094415" y="64282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4134090C-6205-E61A-947D-7FEDC07CD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481" y="1006593"/>
            <a:ext cx="9633187" cy="54186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highlights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14039" cy="4023360"/>
          </a:xfrm>
          <a:prstGeom prst="roundRect">
            <a:avLst>
              <a:gd name="adj" fmla="val 3123"/>
            </a:avLst>
          </a:prstGeom>
          <a:solidFill>
            <a:srgbClr val="F3F6F6"/>
          </a:solidFill>
          <a:ln w="12700">
            <a:solidFill>
              <a:srgbClr val="F3F6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1554480"/>
            <a:ext cx="566928" cy="566928"/>
          </a:xfrm>
          <a:prstGeom prst="ellipse">
            <a:avLst/>
          </a:prstGeom>
          <a:solidFill>
            <a:srgbClr val="0F7C8A"/>
          </a:solidFill>
          <a:ln w="12700">
            <a:solidFill>
              <a:srgbClr val="0F7C8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691640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536192"/>
            <a:ext cx="24167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773936"/>
            <a:ext cx="24167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AI/NLP Risk Engine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331720"/>
            <a:ext cx="30568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33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plus a finance lexicon, phrase and direction rules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33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event classes from weighted evidence, with confidence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>
                <a:solidFill>
                  <a:srgbClr val="23383E"/>
                </a:solidFill>
                <a:latin typeface="Calibri"/>
                <a:ea typeface="Calibri"/>
                <a:cs typeface="Calibri"/>
              </a:rPr>
              <a:t>Impact 1-10 from event prior, </a:t>
            </a:r>
            <a:r>
              <a:rPr lang="en-US" sz="1400" dirty="0">
                <a:solidFill>
                  <a:srgbClr val="23383E"/>
                </a:solidFill>
                <a:latin typeface="Calibri"/>
                <a:ea typeface="Calibri"/>
                <a:cs typeface="Calibri"/>
              </a:rPr>
              <a:t>severity cues, size and prominence</a:t>
            </a:r>
            <a:endParaRPr lang="en-US" sz="1400" dirty="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33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Damped by source credibility, hedging and corroboration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4681728"/>
            <a:ext cx="3056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≈1,400 items per second on one CPU core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36999" y="1325880"/>
            <a:ext cx="3514039" cy="4023360"/>
          </a:xfrm>
          <a:prstGeom prst="roundRect">
            <a:avLst>
              <a:gd name="adj" fmla="val 3123"/>
            </a:avLst>
          </a:prstGeom>
          <a:solidFill>
            <a:srgbClr val="F3F6F6"/>
          </a:solidFill>
          <a:ln w="12700">
            <a:solidFill>
              <a:srgbClr val="F3F6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93031" y="1554480"/>
            <a:ext cx="566928" cy="566928"/>
          </a:xfrm>
          <a:prstGeom prst="ellipse">
            <a:avLst/>
          </a:prstGeom>
          <a:solidFill>
            <a:srgbClr val="0F7C8A"/>
          </a:solidFill>
          <a:ln w="12700">
            <a:solidFill>
              <a:srgbClr val="0F7C8A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0191" y="169164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297119" y="1536192"/>
            <a:ext cx="24167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5297119" y="1773936"/>
            <a:ext cx="24167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Tactical rebalancer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4593031" y="2331720"/>
            <a:ext cx="30568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33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Per-stock sentiment: decayed, shrunk, credibility-weighted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33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 base weights, then bounds, dead-band and turnover cap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33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Market-wide bad news de-risks high-beta names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33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look-ahead; every move traces to its headlines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4593031" y="4681728"/>
            <a:ext cx="3056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 less trading than a naive version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125358" y="1325880"/>
            <a:ext cx="3514039" cy="4023360"/>
          </a:xfrm>
          <a:prstGeom prst="roundRect">
            <a:avLst>
              <a:gd name="adj" fmla="val 3123"/>
            </a:avLst>
          </a:prstGeom>
          <a:solidFill>
            <a:srgbClr val="F3F6F6"/>
          </a:solidFill>
          <a:ln w="12700">
            <a:solidFill>
              <a:srgbClr val="F3F6F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381390" y="1554480"/>
            <a:ext cx="566928" cy="566928"/>
          </a:xfrm>
          <a:prstGeom prst="ellipse">
            <a:avLst/>
          </a:prstGeom>
          <a:solidFill>
            <a:srgbClr val="0F7C8A"/>
          </a:solidFill>
          <a:ln w="12700">
            <a:solidFill>
              <a:srgbClr val="0F7C8A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8550" y="1691640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085478" y="1536192"/>
            <a:ext cx="24167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9085478" y="1773936"/>
            <a:ext cx="24167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stress tester</a:t>
            </a:r>
            <a:endParaRPr lang="en-US" sz="1900" dirty="0"/>
          </a:p>
        </p:txBody>
      </p:sp>
      <p:sp>
        <p:nvSpPr>
          <p:cNvPr id="22" name="Text 17"/>
          <p:cNvSpPr txBox="1"/>
          <p:nvPr/>
        </p:nvSpPr>
        <p:spPr>
          <a:xfrm>
            <a:off x="8381390" y="2331720"/>
            <a:ext cx="30568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33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on impact above 7, adverse tone, mapped event class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33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Shocks scaled by impact: equity, rates, spreads, PD, FX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33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Revalues loans, bonds, equities, swaps, FX forwards, CDS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33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attribution by risk factor reconciles exactly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8381390" y="4681728"/>
            <a:ext cx="3056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scenarios · 85 positions · 3 derivative types</a:t>
            </a:r>
            <a:endParaRPr lang="en-US" sz="1400" dirty="0"/>
          </a:p>
        </p:txBody>
      </p:sp>
      <p:sp>
        <p:nvSpPr>
          <p:cNvPr id="36" name="Text 31"/>
          <p:cNvSpPr txBox="1"/>
          <p:nvPr/>
        </p:nvSpPr>
        <p:spPr>
          <a:xfrm>
            <a:off x="548640" y="6428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Foreshock  ·  S&amp;P Global &amp; Crisil Campus Hackathon 2026</a:t>
            </a:r>
            <a:endParaRPr lang="en-US" sz="1000" dirty="0"/>
          </a:p>
        </p:txBody>
      </p:sp>
      <p:sp>
        <p:nvSpPr>
          <p:cNvPr id="37" name="Text 32"/>
          <p:cNvSpPr txBox="1"/>
          <p:nvPr/>
        </p:nvSpPr>
        <p:spPr>
          <a:xfrm>
            <a:off x="11094415" y="64282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results: the engine and Module 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F7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613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3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from 661 news and social items in under 0.5 s; 48 reposts removed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334256" y="12344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F7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4334256" y="201168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3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event-class accuracy on a held-out set (n = 48). Sentiment 0.75 vs 0.65 for plain VADER; impact rank correlation 0.76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119872" y="12344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F7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83%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8119872" y="201168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3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trading than naive sentiment weights; cost drag 6.7 vs 38.1 bp over the week</a:t>
            </a:r>
            <a:endParaRPr lang="en-US" sz="1300" dirty="0"/>
          </a:p>
        </p:txBody>
      </p:sp>
      <p:pic>
        <p:nvPicPr>
          <p:cNvPr id="9" name="Image 0" descr="/home/claude/work/yourcollege-yourname-hackathon/docs/img/weights_heatmap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0"/>
            <a:ext cx="6355080" cy="330993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610819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Dotted lines = stress-test triggers:  1 rate hike  ·  2 Gulf standoff  ·  3 bank failure  ·  4 hurricane  ·  5 ransomware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7360920" y="27432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one-way turnover (%)</a:t>
            </a:r>
            <a:endParaRPr lang="en-US" sz="14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7223760" y="3108960"/>
          <a:ext cx="443484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548640" y="6428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Foreshock  ·  S&amp;P Global &amp; Crisil Campus Hackathon 2026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11094415" y="64282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7B6A3A-EF31-FD12-A334-BB8C99C1ACA8}"/>
              </a:ext>
            </a:extLst>
          </p:cNvPr>
          <p:cNvSpPr txBox="1"/>
          <p:nvPr/>
        </p:nvSpPr>
        <p:spPr>
          <a:xfrm>
            <a:off x="10259060" y="5935980"/>
            <a:ext cx="942340" cy="246221"/>
          </a:xfrm>
          <a:prstGeom prst="rect">
            <a:avLst/>
          </a:prstGeom>
          <a:solidFill>
            <a:srgbClr val="FFFFFF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00">
                <a:latin typeface="Calibri Light"/>
                <a:ea typeface="Calibri Light"/>
                <a:cs typeface="Calibri Light"/>
              </a:rPr>
              <a:t>Foreshock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E234B1-D10B-8062-0AF1-12EB9887FDCE}"/>
              </a:ext>
            </a:extLst>
          </p:cNvPr>
          <p:cNvSpPr txBox="1"/>
          <p:nvPr/>
        </p:nvSpPr>
        <p:spPr>
          <a:xfrm>
            <a:off x="3048000" y="3429000"/>
            <a:ext cx="60960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b="0" i="0" u="none" strike="noStrike" baseline="0">
                <a:solidFill>
                  <a:srgbClr val="000000"/>
                </a:solidFill>
                <a:latin typeface="Calibri Light"/>
              </a:rPr>
              <a:t>Foreshock</a:t>
            </a:r>
            <a:endParaRPr lang="en-US"/>
          </a:p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1E66AF-0A36-7E10-1826-9B69452D9FB4}"/>
              </a:ext>
            </a:extLst>
          </p:cNvPr>
          <p:cNvSpPr txBox="1"/>
          <p:nvPr/>
        </p:nvSpPr>
        <p:spPr>
          <a:xfrm>
            <a:off x="8399780" y="5935979"/>
            <a:ext cx="1562100" cy="246221"/>
          </a:xfrm>
          <a:prstGeom prst="rect">
            <a:avLst/>
          </a:prstGeom>
          <a:solidFill>
            <a:srgbClr val="FFFFFF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latin typeface="Calibri Light"/>
                <a:ea typeface="Calibri Light"/>
                <a:cs typeface="Calibri Light"/>
              </a:rPr>
              <a:t>Naïve sentiment weights</a:t>
            </a:r>
            <a:endParaRPr lang="en-US" sz="1000" dirty="0">
              <a:latin typeface="Calibri Light"/>
              <a:ea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impact: from headline to P&amp;L in minutes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Thursday, replayed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865376"/>
            <a:ext cx="868680" cy="475488"/>
          </a:xfrm>
          <a:prstGeom prst="roundRect">
            <a:avLst>
              <a:gd name="adj" fmla="val 23077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65376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8288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10:05 ET  ·  one tweet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157984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3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Unconfirmed claim of frozen withdrawals from a 412-follower account. Scored, but held below the trigger.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346704"/>
            <a:ext cx="868680" cy="475488"/>
          </a:xfrm>
          <a:prstGeom prst="roundRect">
            <a:avLst>
              <a:gd name="adj" fmla="val 23077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346704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331012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10:40 ET  ·  wire confirms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639312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3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Bankruptcy filing and deposit run reported; two more outlets follow within the hour. A Credit Event stress test fires.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828032"/>
            <a:ext cx="868680" cy="475488"/>
          </a:xfrm>
          <a:prstGeom prst="roundRect">
            <a:avLst>
              <a:gd name="adj" fmla="val 23077"/>
            </a:avLst>
          </a:prstGeom>
          <a:solidFill>
            <a:srgbClr val="0B2B33"/>
          </a:solidFill>
          <a:ln w="12700">
            <a:solidFill>
              <a:srgbClr val="0B2B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828032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−1.62%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79145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on the wholesale book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51206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3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−$44.6M: rates +32.4, spreads −30.1, credit losses −27.8, equity −19.0. Loan expected loss $21.8M → $49.6M.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 loss per triggered event (% of book)</a:t>
            </a:r>
            <a:endParaRPr lang="en-US" sz="18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6035040" y="1691640"/>
          <a:ext cx="562356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6172200" y="4434840"/>
            <a:ext cx="1737360" cy="1828800"/>
          </a:xfrm>
          <a:prstGeom prst="roundRect">
            <a:avLst>
              <a:gd name="adj" fmla="val 5263"/>
            </a:avLst>
          </a:prstGeom>
          <a:solidFill>
            <a:srgbClr val="F3F6F6"/>
          </a:solidFill>
          <a:ln w="12700">
            <a:solidFill>
              <a:srgbClr val="F3F6F6"/>
            </a:solidFill>
            <a:prstDash val="solid"/>
          </a:ln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572000"/>
            <a:ext cx="310896" cy="310896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6309360" y="495604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office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6309360" y="5285232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33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Sentiment-aware index weights with 83% less turnover.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8046720" y="4434840"/>
            <a:ext cx="1737360" cy="1828800"/>
          </a:xfrm>
          <a:prstGeom prst="roundRect">
            <a:avLst>
              <a:gd name="adj" fmla="val 5263"/>
            </a:avLst>
          </a:prstGeom>
          <a:solidFill>
            <a:srgbClr val="F3F6F6"/>
          </a:solidFill>
          <a:ln w="12700">
            <a:solidFill>
              <a:srgbClr val="F3F6F6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4572000"/>
            <a:ext cx="310896" cy="310896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183880" y="495604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8183880" y="5285232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33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Event-triggered stress tests with factor attribution.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9921240" y="4434840"/>
            <a:ext cx="1737360" cy="1828800"/>
          </a:xfrm>
          <a:prstGeom prst="roundRect">
            <a:avLst>
              <a:gd name="adj" fmla="val 5263"/>
            </a:avLst>
          </a:prstGeom>
          <a:solidFill>
            <a:srgbClr val="F3F6F6"/>
          </a:solidFill>
          <a:ln w="12700">
            <a:solidFill>
              <a:srgbClr val="F3F6F6"/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0" y="4572000"/>
            <a:ext cx="310896" cy="310896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0058400" y="495604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risk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10058400" y="5285232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33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ships with evidence, a version and tests.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548640" y="6428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Foreshock  ·  S&amp;P Global &amp; Crisil Campus Hackathon 2026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11094415" y="64282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next steps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1472184"/>
            <a:ext cx="256032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3716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would tell a sceptical risk manager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03120"/>
            <a:ext cx="5212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700" dirty="0">
                <a:solidFill>
                  <a:srgbClr val="DCE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data are synthetic and scripted; prices are random, so no alpha is claimed.</a:t>
            </a:r>
            <a:endParaRPr lang="en-US" sz="17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700" dirty="0">
                <a:solidFill>
                  <a:srgbClr val="DCE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and lexicon NLP misses subtle language. Held-out set is small (n = 48) and self-labelled.</a:t>
            </a:r>
            <a:endParaRPr lang="en-US" sz="17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700" dirty="0">
                <a:solidFill>
                  <a:srgbClr val="DCE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is a calibrated heuristic: held-out high-impact precision and recall are about 0.5.</a:t>
            </a:r>
            <a:endParaRPr lang="en-US" sz="17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700" dirty="0">
                <a:solidFill>
                  <a:srgbClr val="DCE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shocks are illustrative sensitivities, linear in impact, not regulatory scenarios.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13716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8FC9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350000" y="2137664"/>
            <a:ext cx="457200" cy="457200"/>
          </a:xfrm>
          <a:prstGeom prst="ellipse">
            <a:avLst/>
          </a:prstGeom>
          <a:solidFill>
            <a:srgbClr val="0F7C8A"/>
          </a:solidFill>
          <a:ln w="12700">
            <a:solidFill>
              <a:srgbClr val="0F7C8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50000" y="2137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mbria"/>
                <a:ea typeface="Cambria"/>
              </a:rPr>
              <a:t>1</a:t>
            </a:r>
          </a:p>
        </p:txBody>
      </p:sp>
      <p:sp>
        <p:nvSpPr>
          <p:cNvPr id="13" name="Text 10"/>
          <p:cNvSpPr txBox="1"/>
          <p:nvPr/>
        </p:nvSpPr>
        <p:spPr>
          <a:xfrm>
            <a:off x="6990080" y="210108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CE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impact with event studies on real returns instead of a hand-tuned scale.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350000" y="3161792"/>
            <a:ext cx="457200" cy="457200"/>
          </a:xfrm>
          <a:prstGeom prst="ellipse">
            <a:avLst/>
          </a:prstGeom>
          <a:solidFill>
            <a:srgbClr val="0F7C8A"/>
          </a:solidFill>
          <a:ln w="12700">
            <a:solidFill>
              <a:srgbClr val="0F7C8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50000" y="3161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mbria"/>
                <a:ea typeface="Cambria"/>
              </a:rPr>
              <a:t>2</a:t>
            </a:r>
          </a:p>
        </p:txBody>
      </p:sp>
      <p:sp>
        <p:nvSpPr>
          <p:cNvPr id="16" name="Text 13"/>
          <p:cNvSpPr txBox="1"/>
          <p:nvPr/>
        </p:nvSpPr>
        <p:spPr>
          <a:xfrm>
            <a:off x="6990080" y="3125216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CE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linear scaling to factor or historical-simulation shocks; add capital and liquidity metrics.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350000" y="4185920"/>
            <a:ext cx="457200" cy="457200"/>
          </a:xfrm>
          <a:prstGeom prst="ellipse">
            <a:avLst/>
          </a:prstGeom>
          <a:solidFill>
            <a:srgbClr val="0F7C8A"/>
          </a:solidFill>
          <a:ln w="12700">
            <a:solidFill>
              <a:srgbClr val="0F7C8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50000" y="418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lang="en-US" sz="1700" b="1" dirty="0">
              <a:solidFill>
                <a:srgbClr val="FFFFFF"/>
              </a:solidFill>
              <a:latin typeface="Cambria"/>
              <a:ea typeface="Cambria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6990080" y="4149344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CE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with Kafka and add model governance: versioning, drift monitors, audit log.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28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Foreshock  ·  S&amp;P Global &amp; Crisil Campus Hackathon 2026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1094415" y="64282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S&amp;P Global &amp; Crisil Campus Hackathon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RiskPulse - AI/NLP risk engine with tactical rebalancing and strategic stress testing</dc:title>
  <dc:subject>PptxGenJS Presentation</dc:subject>
  <dc:creator>[Your Full Name]</dc:creator>
  <cp:lastModifiedBy>[Your Full Name]</cp:lastModifiedBy>
  <cp:revision>65</cp:revision>
  <dcterms:created xsi:type="dcterms:W3CDTF">2026-10-05T07:58:26Z</dcterms:created>
  <dcterms:modified xsi:type="dcterms:W3CDTF">2026-10-11T17:21:18Z</dcterms:modified>
</cp:coreProperties>
</file>